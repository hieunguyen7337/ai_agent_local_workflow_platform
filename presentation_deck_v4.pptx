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314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eunguyen7337/AI_Agent_Local_Workflow_PLatfor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7144429-6B4A-59C5-4FC2-D8D2E460B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85" y="3018128"/>
            <a:ext cx="1282065" cy="72116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Your Agent Can Improve Itself?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17556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E2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pattern for auditable, human-reviewed agent workflow evolution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560320"/>
            <a:ext cx="50292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6974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QUT AI and ML Society  | 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AgentCamp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46817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AI Workflow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ADA2DFA-96B6-5A70-3AEB-6AE55F5B5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Fragmentation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 logic is split across at least three separate surfaces at once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194560" cy="566928"/>
          </a:xfrm>
          <a:prstGeom prst="rect">
            <a:avLst/>
          </a:prstGeom>
          <a:solidFill>
            <a:srgbClr val="1E0F2E"/>
          </a:solidFill>
          <a:ln w="19050">
            <a:solidFill>
              <a:srgbClr val="8B2B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buried in code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Agent SDK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2194560" cy="566928"/>
          </a:xfrm>
          <a:prstGeom prst="rect">
            <a:avLst/>
          </a:prstGeom>
          <a:solidFill>
            <a:srgbClr val="1E0F2E"/>
          </a:solidFill>
          <a:ln w="19050">
            <a:solidFill>
              <a:srgbClr val="8B2B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417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0299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Schema separate   from runtime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225856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n8n  |  </a:t>
            </a:r>
            <a:r>
              <a:rPr lang="en-US" sz="8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75120" y="1417320"/>
            <a:ext cx="2194560" cy="566928"/>
          </a:xfrm>
          <a:prstGeom prst="rect">
            <a:avLst/>
          </a:prstGeom>
          <a:solidFill>
            <a:srgbClr val="1E0F2E"/>
          </a:solidFill>
          <a:ln w="19050">
            <a:solidFill>
              <a:srgbClr val="8B2B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417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2585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outside your stack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24780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Cloud  |  Copilot </a:t>
            </a:r>
            <a:r>
              <a:rPr lang="en-US" sz="8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StudioI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71600" y="1984248"/>
            <a:ext cx="3017520" cy="978408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572000" y="1984248"/>
            <a:ext cx="0" cy="978408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 flipH="1">
            <a:off x="5303520" y="1984248"/>
            <a:ext cx="2468880" cy="978408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200400" y="3017520"/>
            <a:ext cx="2743200" cy="621792"/>
          </a:xfrm>
          <a:prstGeom prst="rect">
            <a:avLst/>
          </a:prstGeom>
          <a:solidFill>
            <a:srgbClr val="280A1E"/>
          </a:solidFill>
          <a:ln w="25400">
            <a:solidFill>
              <a:srgbClr val="EE2B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0175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E2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8587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what changed between runs means diffing three artifacts that were never designed to stay in sync.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Readability Gap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being orchestrated cannot read its own workflow instructions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137986"/>
            <a:ext cx="0" cy="3690046"/>
          </a:xfrm>
          <a:prstGeom prst="line">
            <a:avLst/>
          </a:prstGeom>
          <a:noFill/>
          <a:ln w="12700">
            <a:solidFill>
              <a:srgbClr val="2E2E2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1440" y="113798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1627632"/>
            <a:ext cx="2194560" cy="566928"/>
          </a:xfrm>
          <a:prstGeom prst="rect">
            <a:avLst/>
          </a:prstGeom>
          <a:solidFill>
            <a:srgbClr val="1E0F2E"/>
          </a:solidFill>
          <a:ln w="19050">
            <a:solidFill>
              <a:srgbClr val="8B2B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276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57400" y="2194560"/>
            <a:ext cx="0" cy="347472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417320" y="2542032"/>
            <a:ext cx="1280160" cy="365760"/>
          </a:xfrm>
          <a:prstGeom prst="rect">
            <a:avLst/>
          </a:prstGeom>
          <a:solidFill>
            <a:srgbClr val="25000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542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2907792"/>
            <a:ext cx="0" cy="329184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960120" y="3236976"/>
            <a:ext cx="2194560" cy="566928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2369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" y="3977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executes a pipeline it cannot inspect or reason about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115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2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1627632"/>
            <a:ext cx="2194560" cy="566928"/>
          </a:xfrm>
          <a:prstGeom prst="rect">
            <a:avLst/>
          </a:prstGeom>
          <a:solidFill>
            <a:srgbClr val="1E0F2E"/>
          </a:solidFill>
          <a:ln w="19050">
            <a:solidFill>
              <a:srgbClr val="EE2B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6276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01968" y="2194560"/>
            <a:ext cx="0" cy="685800"/>
          </a:xfrm>
          <a:prstGeom prst="line">
            <a:avLst/>
          </a:prstGeom>
          <a:noFill/>
          <a:ln w="25400">
            <a:solidFill>
              <a:srgbClr val="EE2B96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 flipV="1">
            <a:off x="6748272" y="2194560"/>
            <a:ext cx="0" cy="685800"/>
          </a:xfrm>
          <a:prstGeom prst="line">
            <a:avLst/>
          </a:prstGeom>
          <a:noFill/>
          <a:ln w="25400">
            <a:solidFill>
              <a:srgbClr val="8B2BE2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6812280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 proposes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2880360"/>
            <a:ext cx="2194560" cy="566928"/>
          </a:xfrm>
          <a:prstGeom prst="rect">
            <a:avLst/>
          </a:prstGeom>
          <a:solidFill>
            <a:srgbClr val="280A1E"/>
          </a:solidFill>
          <a:ln w="25400">
            <a:solidFill>
              <a:srgbClr val="EE2B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880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E2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Spec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3447288"/>
            <a:ext cx="0" cy="329184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577840" y="3776472"/>
            <a:ext cx="2194560" cy="502920"/>
          </a:xfrm>
          <a:prstGeom prst="rect">
            <a:avLst/>
          </a:prstGeom>
          <a:solidFill>
            <a:srgbClr val="1E1E1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7764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Runtime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4074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E2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both humans and LLMs can read, diff, and propose changes 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73607"/>
              </p:ext>
            </p:extLst>
          </p:nvPr>
        </p:nvGraphicFramePr>
        <p:xfrm>
          <a:off x="457200" y="1024128"/>
          <a:ext cx="8321040" cy="24231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E2B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4D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Runtime: executes the graph. This project runs on top of it.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4D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/ AutoGen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Agent-centric orchestration, a different model entirely.</a:t>
                      </a:r>
                      <a:endParaRPr lang="en-US" sz="14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E2B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pattern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thin authoring and review layer on top of any graph runtime.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3739896"/>
            <a:ext cx="3840480" cy="841248"/>
          </a:xfrm>
          <a:prstGeom prst="rect">
            <a:avLst/>
          </a:prstGeom>
          <a:solidFill>
            <a:srgbClr val="1E0A28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3767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2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</a:t>
            </a:r>
            <a:r>
              <a:rPr lang="en-US" sz="12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needing, understandability, auditability, iterative LLM-driven improvement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462272" y="3739896"/>
            <a:ext cx="4315968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99432" y="3767328"/>
            <a:ext cx="4041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 </a:t>
            </a: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agent pipeline that can’t be display in graph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YAML file the shared contract: human reads it, LLM reads it, runtime compiles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14600" y="1371600"/>
            <a:ext cx="4114800" cy="530352"/>
          </a:xfrm>
          <a:prstGeom prst="rect">
            <a:avLst/>
          </a:prstGeom>
          <a:solidFill>
            <a:srgbClr val="EE2B96"/>
          </a:solidFill>
          <a:ln w="19050">
            <a:solidFill>
              <a:srgbClr val="EE2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13716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YAML spec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929384"/>
            <a:ext cx="0" cy="210312"/>
          </a:xfrm>
          <a:prstGeom prst="line">
            <a:avLst/>
          </a:prstGeom>
          <a:noFill/>
          <a:ln w="25400">
            <a:solidFill>
              <a:srgbClr val="EE2B96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514600" y="2157984"/>
            <a:ext cx="4114800" cy="530352"/>
          </a:xfrm>
          <a:prstGeom prst="rect">
            <a:avLst/>
          </a:prstGeom>
          <a:solidFill>
            <a:srgbClr val="1E0F2E"/>
          </a:solidFill>
          <a:ln w="19050">
            <a:solidFill>
              <a:srgbClr val="EE2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15798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LLM proposes diff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715768"/>
            <a:ext cx="0" cy="210312"/>
          </a:xfrm>
          <a:prstGeom prst="line">
            <a:avLst/>
          </a:prstGeom>
          <a:noFill/>
          <a:ln w="25400">
            <a:solidFill>
              <a:srgbClr val="EE2B96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514600" y="2944368"/>
            <a:ext cx="4114800" cy="530352"/>
          </a:xfrm>
          <a:prstGeom prst="rect">
            <a:avLst/>
          </a:prstGeom>
          <a:solidFill>
            <a:srgbClr val="1E0F2E"/>
          </a:solidFill>
          <a:ln w="19050">
            <a:solidFill>
              <a:srgbClr val="EE2B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94436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Human reviews graph + eval evidence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3502152"/>
            <a:ext cx="0" cy="210312"/>
          </a:xfrm>
          <a:prstGeom prst="line">
            <a:avLst/>
          </a:prstGeom>
          <a:noFill/>
          <a:ln w="25400">
            <a:solidFill>
              <a:srgbClr val="EE2B96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2514600" y="3730752"/>
            <a:ext cx="4114800" cy="530352"/>
          </a:xfrm>
          <a:prstGeom prst="rect">
            <a:avLst/>
          </a:prstGeom>
          <a:solidFill>
            <a:srgbClr val="1A0A1A"/>
          </a:solidFill>
          <a:ln w="19050">
            <a:solidFill>
              <a:srgbClr val="EE2B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73075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Apply (write) or Discard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636776"/>
            <a:ext cx="0" cy="2359152"/>
          </a:xfrm>
          <a:prstGeom prst="line">
            <a:avLst/>
          </a:prstGeom>
          <a:noFill/>
          <a:ln w="12700">
            <a:solidFill>
              <a:srgbClr val="3A3A3A"/>
            </a:solidFill>
            <a:prstDash val="sysDash"/>
          </a:ln>
        </p:spPr>
      </p:sp>
      <p:sp>
        <p:nvSpPr>
          <p:cNvPr id="17" name="Text 15"/>
          <p:cNvSpPr/>
          <p:nvPr/>
        </p:nvSpPr>
        <p:spPr>
          <a:xfrm>
            <a:off x="6830568" y="25420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2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linear_rag.yaml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authoring surface: validated by Pydantic, compiled to a LangGraph StateGraph at runtime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5120640" cy="4096512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" y="987552"/>
            <a:ext cx="488289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schema_version: workflow.graph/v1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 linear_rag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entry:  query_analyser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cost_usd:    0.50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latency_ms:  240000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      query_analyser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    llm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provider: openai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   gpt-4o-mini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system_prompt: Rewrite questions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into retrieval queries.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output_state_key: query_analysis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      query_embedding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    embedding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provider: openrouter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   google/gemini-embedding-2-preview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output_state_key: query_embedding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      vector_retriever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    vector_retriever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index_path: evals/linear_rag/vector_index.sqlite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output_state_key: retrieved_context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  reranker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llm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provider: openai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gpt-4o-mini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output_state_key: reranked_context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  synthesiser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llm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provider: openai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gpt-4o-mini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output_state_key: final_answer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from: query_analyser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to:   query_embedding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from: query_embedding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to:   vector_retriever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from: vector_retriever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to:   reranker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from: reranker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to:   synthesiser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from: synthesiser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to:   __end__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5394960" y="1216152"/>
            <a:ext cx="201168" cy="0"/>
          </a:xfrm>
          <a:prstGeom prst="line">
            <a:avLst/>
          </a:prstGeom>
          <a:noFill/>
          <a:ln w="12700">
            <a:solidFill>
              <a:srgbClr val="EE2B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0" y="109728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2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schema_version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33502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Versioned: diffable between runs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947672"/>
            <a:ext cx="201168" cy="0"/>
          </a:xfrm>
          <a:prstGeom prst="line">
            <a:avLst/>
          </a:prstGeom>
          <a:noFill/>
          <a:ln w="12700">
            <a:solidFill>
              <a:srgbClr val="EE2B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82880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2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3560" y="206654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latency enforcement per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2679192"/>
            <a:ext cx="201168" cy="0"/>
          </a:xfrm>
          <a:prstGeom prst="line">
            <a:avLst/>
          </a:prstGeom>
          <a:noFill/>
          <a:ln w="12700">
            <a:solidFill>
              <a:srgbClr val="EE2B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256032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2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79806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type: 10 kinds (llm, embedding,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vector_retriever, gate, approval...)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410712"/>
            <a:ext cx="201168" cy="0"/>
          </a:xfrm>
          <a:prstGeom prst="line">
            <a:avLst/>
          </a:prstGeom>
          <a:noFill/>
          <a:ln w="12700">
            <a:solidFill>
              <a:srgbClr val="EE2B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329184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2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output_state_key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352958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state flows between nodes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4142232"/>
            <a:ext cx="201168" cy="0"/>
          </a:xfrm>
          <a:prstGeom prst="line">
            <a:avLst/>
          </a:prstGeom>
          <a:noFill/>
          <a:ln w="12700">
            <a:solidFill>
              <a:srgbClr val="EE2B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402336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2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426110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topology: no magic routing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12666" y="1717007"/>
            <a:ext cx="8593590" cy="1887793"/>
          </a:xfrm>
          <a:prstGeom prst="rect">
            <a:avLst/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Propose and Validate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to 4: everything here is read-only, nothing writes to disk yet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99279"/>
            <a:ext cx="1874520" cy="658368"/>
          </a:xfrm>
          <a:prstGeom prst="rect">
            <a:avLst/>
          </a:prstGeom>
          <a:solidFill>
            <a:srgbClr val="1E0F2E"/>
          </a:solidFill>
          <a:ln w="19050">
            <a:solidFill>
              <a:srgbClr val="8B2B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9279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Write Goal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68296" y="2528463"/>
            <a:ext cx="173736" cy="0"/>
          </a:xfrm>
          <a:prstGeom prst="line">
            <a:avLst/>
          </a:prstGeom>
          <a:noFill/>
          <a:ln w="25400">
            <a:solidFill>
              <a:srgbClr val="EE2B96"/>
            </a:solidFill>
            <a:prstDash val="solid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457200" y="2985663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states what needs to change in natural language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78608" y="2199279"/>
            <a:ext cx="1874520" cy="658368"/>
          </a:xfrm>
          <a:prstGeom prst="rect">
            <a:avLst/>
          </a:prstGeom>
          <a:solidFill>
            <a:srgbClr val="1E0F2E"/>
          </a:solidFill>
          <a:ln w="19050">
            <a:solidFill>
              <a:srgbClr val="8B2B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2199279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LLM Proposes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9704" y="2528463"/>
            <a:ext cx="173736" cy="0"/>
          </a:xfrm>
          <a:prstGeom prst="line">
            <a:avLst/>
          </a:prstGeom>
          <a:noFill/>
          <a:ln w="25400">
            <a:solidFill>
              <a:srgbClr val="EE2B96"/>
            </a:solidFill>
            <a:prstDash val="solid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2578608" y="2985663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revised YAML returned: the LLM rewrites the spec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0016" y="2199279"/>
            <a:ext cx="1874520" cy="658368"/>
          </a:xfrm>
          <a:prstGeom prst="rect">
            <a:avLst/>
          </a:prstGeom>
          <a:solidFill>
            <a:srgbClr val="1E0F2E"/>
          </a:solidFill>
          <a:ln w="19050">
            <a:solidFill>
              <a:srgbClr val="8B2B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199279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Validate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1112" y="2528463"/>
            <a:ext cx="173736" cy="0"/>
          </a:xfrm>
          <a:prstGeom prst="line">
            <a:avLst/>
          </a:prstGeom>
          <a:noFill/>
          <a:ln w="25400">
            <a:solidFill>
              <a:srgbClr val="EE2B96"/>
            </a:solidFill>
            <a:prstDash val="solid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4700016" y="2985663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GraphSpec rejects invalid proposals immediately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21424" y="2199279"/>
            <a:ext cx="1874520" cy="658368"/>
          </a:xfrm>
          <a:prstGeom prst="rect">
            <a:avLst/>
          </a:prstGeom>
          <a:solidFill>
            <a:srgbClr val="1E0F2E"/>
          </a:solidFill>
          <a:ln w="19050">
            <a:solidFill>
              <a:srgbClr val="8B2B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2199279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Diff Shown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21424" y="2985663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line-by-line changes visible before any decision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1806087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plain-text mutation goal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21424" y="1806087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2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validated YAML diff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6"/>
          <p:cNvSpPr/>
          <p:nvPr/>
        </p:nvSpPr>
        <p:spPr>
          <a:xfrm>
            <a:off x="420624" y="1563329"/>
            <a:ext cx="8101584" cy="2153265"/>
          </a:xfrm>
          <a:prstGeom prst="rect">
            <a:avLst/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Eval, Apply, Recover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 to 7 of 7: only one step writes to disk, and only after explicit confirmation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2286000" cy="685800"/>
          </a:xfrm>
          <a:prstGeom prst="rect">
            <a:avLst/>
          </a:prstGeom>
          <a:solidFill>
            <a:srgbClr val="1E0F2E"/>
          </a:solidFill>
          <a:ln w="19050">
            <a:solidFill>
              <a:srgbClr val="8B2B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Eval in Memory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3512" y="2171700"/>
            <a:ext cx="320040" cy="0"/>
          </a:xfrm>
          <a:prstGeom prst="line">
            <a:avLst/>
          </a:prstGeom>
          <a:noFill/>
          <a:ln w="25400">
            <a:solidFill>
              <a:srgbClr val="EE2B96"/>
            </a:solidFill>
            <a:prstDash val="solid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621792" y="26426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spec runs against fixture inputs without touching workflows/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286000" cy="685800"/>
          </a:xfrm>
          <a:prstGeom prst="rect">
            <a:avLst/>
          </a:prstGeom>
          <a:solidFill>
            <a:srgbClr val="EE2B96"/>
          </a:solidFill>
          <a:ln w="25400">
            <a:solidFill>
              <a:srgbClr val="EE2B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Apply or Discard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50992" y="2171700"/>
            <a:ext cx="320040" cy="0"/>
          </a:xfrm>
          <a:prstGeom prst="line">
            <a:avLst/>
          </a:prstGeom>
          <a:noFill/>
          <a:ln w="25400">
            <a:solidFill>
              <a:srgbClr val="EE2B96"/>
            </a:solidFill>
            <a:prstDash val="solid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3319272" y="26426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overwrites workflows/*.yaml and saves a rollback snapshot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16752" y="1828800"/>
            <a:ext cx="2286000" cy="685800"/>
          </a:xfrm>
          <a:prstGeom prst="rect">
            <a:avLst/>
          </a:prstGeom>
          <a:solidFill>
            <a:srgbClr val="1E0F2E"/>
          </a:solidFill>
          <a:ln w="19050">
            <a:solidFill>
              <a:srgbClr val="8B2B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752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Recover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16752" y="26426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Human-confirmed restore from any snapshot: each restore creates an audit entry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56432" y="3191256"/>
            <a:ext cx="2011680" cy="347472"/>
          </a:xfrm>
          <a:prstGeom prst="rect">
            <a:avLst/>
          </a:prstGeom>
          <a:solidFill>
            <a:srgbClr val="280A1E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31912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2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this step writes to disk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940829" y="695681"/>
            <a:ext cx="2560320" cy="301752"/>
          </a:xfrm>
          <a:prstGeom prst="rect">
            <a:avLst/>
          </a:prstGeom>
          <a:solidFill>
            <a:srgbClr val="2A0A20"/>
          </a:solidFill>
          <a:ln w="6350">
            <a:solidFill>
              <a:srgbClr val="EE2B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0829" y="695681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2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Workflow selector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6126" y="4608576"/>
            <a:ext cx="2962656" cy="301752"/>
          </a:xfrm>
          <a:prstGeom prst="rect">
            <a:avLst/>
          </a:prstGeom>
          <a:solidFill>
            <a:srgbClr val="2A0A20"/>
          </a:solidFill>
          <a:ln w="6350">
            <a:solidFill>
              <a:srgbClr val="EE2B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6126" y="4608576"/>
            <a:ext cx="29626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2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Graph canvas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01149" y="4529918"/>
            <a:ext cx="2542032" cy="301752"/>
          </a:xfrm>
          <a:prstGeom prst="rect">
            <a:avLst/>
          </a:prstGeom>
          <a:solidFill>
            <a:srgbClr val="2A0A20"/>
          </a:solidFill>
          <a:ln w="6350">
            <a:solidFill>
              <a:srgbClr val="EE2B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1149" y="452991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2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Inspect panel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4A743C-B681-42EE-AAA5-E988215BE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392" y="1041482"/>
            <a:ext cx="6442095" cy="3420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 Tab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45A2B7-6A46-C660-C1C6-EA7CA4790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80" y="822960"/>
            <a:ext cx="7203439" cy="38138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4864" cy="585216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1704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quality degrades on large specs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14173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YAML rewrite: the LLM holds the entire spec and must reproduce it without drift. A YAML patch format would help.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54864" cy="585216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8928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quality depends on the datasets and scorers you bring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13969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evals and CSV/JSONL/YAML dataset adapters are included, but subjective scoring and production distribution coverage are still on you.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54864" cy="585216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6151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enforcement is post-node, not mid-stream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" y="286207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over budget is rejected after completion, not cancelled mid-generation. Streaming cancellation is deferred.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54864" cy="585216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33756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providers: OpenAI and OpenRouter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" y="35844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Gemini, and Ollama each need a new adapter. The pattern is clean but provider coverage is thin.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59936"/>
            <a:ext cx="54864" cy="585216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40599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Agentic workflow do not map cleanly to graph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" y="430682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placeholder person reID specialists with real model wrappers for visual, text, and body-shape signals.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Back Three Things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94360" cy="59436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07008" y="11338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spec in one file both you and the LLM can read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07008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human-readable YAML is the foundation of every other property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594360" cy="59436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96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07008" y="215798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mutation human-reviewed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7008" y="24871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Propose, Eval, explicit Apply. Nothing lands until a human says so.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594360" cy="594360"/>
          </a:xfrm>
          <a:prstGeom prst="rect">
            <a:avLst/>
          </a:prstGeom>
          <a:solidFill>
            <a:srgbClr val="EE2B96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638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07008" y="31821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run artifacts as immutable audit records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7008" y="35112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continuations, don't mutate source runs. Rollback restores overwrite only after confirmation and record an audit entry.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279392"/>
            <a:ext cx="832104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740" y="4370832"/>
            <a:ext cx="63300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Can your pipeline be easily understandable? Can the LLM read it and improve it easily?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72459" y="4370831"/>
            <a:ext cx="2294849" cy="448051"/>
          </a:xfrm>
          <a:prstGeom prst="rect">
            <a:avLst/>
          </a:prstGeom>
          <a:solidFill>
            <a:srgbClr val="280820"/>
          </a:solidFill>
          <a:ln w="12700">
            <a:solidFill>
              <a:srgbClr val="EE2B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9653" y="4352543"/>
            <a:ext cx="2206359" cy="448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hlinkClick r:id="rId3"/>
              </a:rPr>
              <a:t>hieunguyen7337/</a:t>
            </a:r>
            <a:r>
              <a:rPr lang="en-US" sz="1200" dirty="0" err="1">
                <a:hlinkClick r:id="rId3"/>
              </a:rPr>
              <a:t>AI_Agent_Local_Workflow_PLatform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0" y="4873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1073</Words>
  <Application>Microsoft Office PowerPoint</Application>
  <PresentationFormat>On-screen Show (16:9)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YAML File. LLM proposes. Human reviews. Runtime runs.</dc:title>
  <dc:subject>PptxGenJS Presentation</dc:subject>
  <dc:creator>PptxGenJS</dc:creator>
  <cp:lastModifiedBy>genai.aic</cp:lastModifiedBy>
  <cp:revision>3</cp:revision>
  <dcterms:created xsi:type="dcterms:W3CDTF">2026-05-03T15:18:55Z</dcterms:created>
  <dcterms:modified xsi:type="dcterms:W3CDTF">2026-05-03T18:18:09Z</dcterms:modified>
</cp:coreProperties>
</file>